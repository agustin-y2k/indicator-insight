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5105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INDICATOR INSIGHT · TFG · INGENIERÍA EN INFORMÁTICA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9692640" y="651052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· Thesis Baseline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6717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6717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">
            <a:off x="8229600" y="164592"/>
            <a:ext cx="3566160" cy="3566160"/>
          </a:xfrm>
          <a:prstGeom prst="arc">
            <a:avLst/>
          </a:prstGeom>
          <a:solidFill>
            <a:srgbClr val="D97706">
              <a:alpha val="80000"/>
            </a:srgbClr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600000">
            <a:off x="8823960" y="3456432"/>
            <a:ext cx="3063240" cy="3063240"/>
          </a:xfrm>
          <a:prstGeom prst="arc">
            <a:avLst/>
          </a:prstGeom>
          <a:solidFill>
            <a:srgbClr val="287F7A">
              <a:alpha val="90000"/>
            </a:srgbClr>
          </a:solidFill>
          <a:ln w="12700">
            <a:solidFill>
              <a:srgbClr val="287F7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841248"/>
            <a:ext cx="5943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INDICATOR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INSIGHT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86384" y="2423160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7EEF3"/>
                </a:solidFill>
              </a:rPr>
              <a:t>Entrenar decisiones bajo incertidumbre, sin confundir conocimiento con suerte.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86384" y="3566160"/>
            <a:ext cx="4754880" cy="0"/>
          </a:xfrm>
          <a:prstGeom prst="line">
            <a:avLst/>
          </a:prstGeom>
          <a:noFill/>
          <a:ln w="381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3822192"/>
            <a:ext cx="6583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Diseño y evaluación de una plataforma adaptativa e interpretable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86384" y="457200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3DB"/>
                </a:solidFill>
              </a:rPr>
              <a:t>Ramiro Agustín Pintos De Nucci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8D3DB"/>
                </a:solidFill>
              </a:rPr>
              <a:t>Trabajo Final de Grado · Ingeniería en Informática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86384" y="5623560"/>
            <a:ext cx="1417320" cy="310896"/>
          </a:xfrm>
          <a:prstGeom prst="roundRect">
            <a:avLst>
              <a:gd name="adj" fmla="val 44118"/>
            </a:avLst>
          </a:prstGeom>
          <a:solidFill>
            <a:srgbClr val="245B78"/>
          </a:solidFill>
          <a:ln w="12700">
            <a:solidFill>
              <a:srgbClr val="245B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" y="5687568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</a:rPr>
              <a:t>BKT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2313432" y="5623560"/>
            <a:ext cx="1691640" cy="310896"/>
          </a:xfrm>
          <a:prstGeom prst="roundRect">
            <a:avLst>
              <a:gd name="adj" fmla="val 44118"/>
            </a:avLst>
          </a:prstGeom>
          <a:solidFill>
            <a:srgbClr val="287F7A"/>
          </a:solidFill>
          <a:ln w="12700">
            <a:solidFill>
              <a:srgbClr val="287F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59152" y="5687568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</a:rPr>
              <a:t>Brier / Calibration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4114800" y="5623560"/>
            <a:ext cx="1828800" cy="310896"/>
          </a:xfrm>
          <a:prstGeom prst="roundRect">
            <a:avLst>
              <a:gd name="adj" fmla="val 44118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60520" y="5687568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</a:rPr>
              <a:t>Adaptive Policy</a:t>
            </a:r>
            <a:endParaRPr lang="en-US" sz="8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6717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8404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D97706"/>
                </a:solidFill>
              </a:rPr>
              <a:t>EL PROBLEMA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713232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324D"/>
                </a:solidFill>
              </a:rPr>
              <a:t>Acertar no demuestra que se haya aprendido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5331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17E"/>
                </a:solidFill>
              </a:rPr>
              <a:t>En entornos ruidosos, resultado, conocimiento y calidad del juicio pueden divergir.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85800" y="1965960"/>
            <a:ext cx="3337560" cy="324612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 w="10160">
            <a:solidFill>
              <a:srgbClr val="DDE3E8"/>
            </a:solidFill>
            <a:prstDash val="solid"/>
          </a:ln>
          <a:effectLst>
            <a:outerShdw sx="100000" sy="100000" kx="0" ky="0" algn="bl" rotWithShape="0" blurRad="19050" dist="50800" dir="2700000">
              <a:srgbClr val="AAB2BA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965960"/>
            <a:ext cx="73152" cy="3246120"/>
          </a:xfrm>
          <a:prstGeom prst="rect">
            <a:avLst/>
          </a:prstGeom>
          <a:solidFill>
            <a:srgbClr val="245B78"/>
          </a:solidFill>
          <a:ln w="12700">
            <a:solidFill>
              <a:srgbClr val="245B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213055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Caso A · Sabe, pero tuvo mala suerte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86968" y="2514600"/>
            <a:ext cx="2971800" cy="2569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202B"/>
                </a:solidFill>
              </a:rPr>
              <a:t>Comprende el concepto y usa evidencia razonable. El evento no ocurre.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5202B"/>
                </a:solidFill>
              </a:rPr>
              <a:t>Un sistema que sólo mira el resultado lo penaliza.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4434840" y="1965960"/>
            <a:ext cx="3337560" cy="324612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 w="10160">
            <a:solidFill>
              <a:srgbClr val="DDE3E8"/>
            </a:solidFill>
            <a:prstDash val="solid"/>
          </a:ln>
          <a:effectLst>
            <a:outerShdw sx="100000" sy="100000" kx="0" ky="0" algn="bl" rotWithShape="0" blurRad="241935000" dist="645160000" dir="162000000000">
              <a:srgbClr val="AAB2BA">
                <a:alpha val="180000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34840" y="1965960"/>
            <a:ext cx="73152" cy="32461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6008" y="213055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Caso B · No sabe, pero acierta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36008" y="2514600"/>
            <a:ext cx="2971800" cy="2569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202B"/>
                </a:solidFill>
              </a:rPr>
              <a:t>Elige casi al azar. El evento ocurre.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5202B"/>
                </a:solidFill>
              </a:rPr>
              <a:t>Un sistema que confunde outcome con aprendizaje lo recompensa.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8183880" y="1965960"/>
            <a:ext cx="3337560" cy="324612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 w="10160">
            <a:solidFill>
              <a:srgbClr val="DDE3E8"/>
            </a:solidFill>
            <a:prstDash val="solid"/>
          </a:ln>
          <a:effectLst>
            <a:outerShdw sx="100000" sy="100000" kx="0" ky="0" algn="bl" rotWithShape="0" blurRad="3072574500000" dist="8193532000000" dir="9720000000000000">
              <a:srgbClr val="AAB2BA">
                <a:alpha val="18000000000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83880" y="1965960"/>
            <a:ext cx="73152" cy="3246120"/>
          </a:xfrm>
          <a:prstGeom prst="rect">
            <a:avLst/>
          </a:prstGeom>
          <a:solidFill>
            <a:srgbClr val="287F7A"/>
          </a:solidFill>
          <a:ln w="12700">
            <a:solidFill>
              <a:srgbClr val="287F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85048" y="213055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Caso C · Sabe, pero está sobreconfiado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85048" y="2514600"/>
            <a:ext cx="2971800" cy="2569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202B"/>
                </a:solidFill>
              </a:rPr>
              <a:t>Acierta a menudo, pero declara 95 % cuando su frecuencia real ronda 65 %.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5202B"/>
                </a:solidFill>
              </a:rPr>
              <a:t>Accuracy sola no detecta el problema.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1188720" y="5513832"/>
            <a:ext cx="9829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Problema central: adaptar la práctica exige observar señales distintas sin colapsarlas en una única “nota”.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6717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8404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D97706"/>
                </a:solidFill>
              </a:rPr>
              <a:t>ESTADO DEL ARTE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713232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324D"/>
                </a:solidFill>
              </a:rPr>
              <a:t>Las piezas existen. El vacío está en cómo se integran y evalúan.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847088"/>
            <a:ext cx="1071676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2011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BKT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88920" y="196596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F7D5C"/>
                </a:solidFill>
              </a:rPr>
              <a:t>Modela dominio conceptual interpretable</a:t>
            </a:r>
            <a:endParaRPr lang="en-US" sz="940" dirty="0"/>
          </a:p>
        </p:txBody>
      </p:sp>
      <p:sp>
        <p:nvSpPr>
          <p:cNvPr id="7" name="Text 5"/>
          <p:cNvSpPr/>
          <p:nvPr/>
        </p:nvSpPr>
        <p:spPr>
          <a:xfrm>
            <a:off x="6812280" y="196596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9473A"/>
                </a:solidFill>
              </a:rPr>
              <a:t>No mide por sí mismo calidad de pronóstico</a:t>
            </a:r>
            <a:endParaRPr lang="en-US" sz="940" dirty="0"/>
          </a:p>
        </p:txBody>
      </p:sp>
      <p:sp>
        <p:nvSpPr>
          <p:cNvPr id="8" name="Shape 6"/>
          <p:cNvSpPr/>
          <p:nvPr/>
        </p:nvSpPr>
        <p:spPr>
          <a:xfrm>
            <a:off x="731520" y="2633472"/>
            <a:ext cx="10716768" cy="621792"/>
          </a:xfrm>
          <a:prstGeom prst="roundRect">
            <a:avLst/>
          </a:prstGeom>
          <a:solidFill>
            <a:srgbClr val="F2F4F5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79806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Brier / proper scoring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88920" y="2752344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F7D5C"/>
                </a:solidFill>
              </a:rPr>
              <a:t>Evalúa probabilidades declaradas</a:t>
            </a:r>
            <a:endParaRPr lang="en-US" sz="940" dirty="0"/>
          </a:p>
        </p:txBody>
      </p:sp>
      <p:sp>
        <p:nvSpPr>
          <p:cNvPr id="11" name="Text 9"/>
          <p:cNvSpPr/>
          <p:nvPr/>
        </p:nvSpPr>
        <p:spPr>
          <a:xfrm>
            <a:off x="6812280" y="2752344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9473A"/>
                </a:solidFill>
              </a:rPr>
              <a:t>No equivale a mastery ni a calibración por sí solo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731520" y="3419856"/>
            <a:ext cx="1071676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584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Calibration training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88920" y="353872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F7D5C"/>
                </a:solidFill>
              </a:rPr>
              <a:t>Existe evidencia de mejora modesta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6812280" y="353872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9473A"/>
                </a:solidFill>
              </a:rPr>
              <a:t>También hay resultados nulos según feedback/diseño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731520" y="4206240"/>
            <a:ext cx="10716768" cy="621792"/>
          </a:xfrm>
          <a:prstGeom prst="roundRect">
            <a:avLst/>
          </a:prstGeom>
          <a:solidFill>
            <a:srgbClr val="F2F4F5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43708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Confidence + KT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88920" y="432511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F7D5C"/>
                </a:solidFill>
              </a:rPr>
              <a:t>Ya hay antecedentes adaptativos</a:t>
            </a:r>
            <a:endParaRPr lang="en-US" sz="940" dirty="0"/>
          </a:p>
        </p:txBody>
      </p:sp>
      <p:sp>
        <p:nvSpPr>
          <p:cNvPr id="19" name="Text 17"/>
          <p:cNvSpPr/>
          <p:nvPr/>
        </p:nvSpPr>
        <p:spPr>
          <a:xfrm>
            <a:off x="6812280" y="432511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9473A"/>
                </a:solidFill>
              </a:rPr>
              <a:t>No podemos reclamar “BKT + confianza” como novedad</a:t>
            </a:r>
            <a:endParaRPr lang="en-US" sz="940" dirty="0"/>
          </a:p>
        </p:txBody>
      </p:sp>
      <p:sp>
        <p:nvSpPr>
          <p:cNvPr id="20" name="Shape 18"/>
          <p:cNvSpPr/>
          <p:nvPr/>
        </p:nvSpPr>
        <p:spPr>
          <a:xfrm>
            <a:off x="731520" y="4992624"/>
            <a:ext cx="1071676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" y="515721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Simulación financiera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88920" y="5111496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F7D5C"/>
                </a:solidFill>
              </a:rPr>
              <a:t>Permite práctica y replay</a:t>
            </a:r>
            <a:endParaRPr lang="en-US" sz="940" dirty="0"/>
          </a:p>
        </p:txBody>
      </p:sp>
      <p:sp>
        <p:nvSpPr>
          <p:cNvPr id="23" name="Text 21"/>
          <p:cNvSpPr/>
          <p:nvPr/>
        </p:nvSpPr>
        <p:spPr>
          <a:xfrm>
            <a:off x="6812280" y="5111496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9473A"/>
                </a:solidFill>
              </a:rPr>
              <a:t>Un simulador de trading solo no es aporte suficiente</a:t>
            </a:r>
            <a:endParaRPr lang="en-US" sz="940" dirty="0"/>
          </a:p>
        </p:txBody>
      </p:sp>
      <p:sp>
        <p:nvSpPr>
          <p:cNvPr id="24" name="Text 22"/>
          <p:cNvSpPr/>
          <p:nvPr/>
        </p:nvSpPr>
        <p:spPr>
          <a:xfrm>
            <a:off x="914400" y="589788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Gap propuesto: núcleo dual + adaptación explicable + escenarios time-safe + comparación experimental de políticas.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6208776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i="1" dirty="0">
                <a:solidFill>
                  <a:srgbClr val="7B858E"/>
                </a:solidFill>
              </a:rPr>
              <a:t>Referencias: Corbett &amp; Anderson (1995); Brier (1950); Murphy (1973); Gruetzemacher et al. (2024); Martin &amp; Mandel; ZPD-KT (2024).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6717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8404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D97706"/>
                </a:solidFill>
              </a:rPr>
              <a:t>CONTRIBUCIÓN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713232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324D"/>
                </a:solidFill>
              </a:rPr>
              <a:t>Un núcleo adaptativo de doble señal, auditable y reusable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3154680" cy="3474720"/>
          </a:xfrm>
          <a:prstGeom prst="roundRect">
            <a:avLst>
              <a:gd name="adj" fmla="val 2029"/>
            </a:avLst>
          </a:prstGeom>
          <a:solidFill>
            <a:srgbClr val="FFFFFF"/>
          </a:solidFill>
          <a:ln w="10160">
            <a:solidFill>
              <a:srgbClr val="DDE3E8"/>
            </a:solidFill>
            <a:prstDash val="solid"/>
          </a:ln>
          <a:effectLst>
            <a:outerShdw sx="100000" sy="100000" kx="0" ky="0" algn="bl" rotWithShape="0" blurRad="39021696150000000" dist="104057856400000000" dir="583200000000000000000">
              <a:srgbClr val="AAB2BA">
                <a:alpha val="180000000000000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0240"/>
            <a:ext cx="73152" cy="3474720"/>
          </a:xfrm>
          <a:prstGeom prst="rect">
            <a:avLst/>
          </a:prstGeom>
          <a:solidFill>
            <a:srgbClr val="245B78"/>
          </a:solidFill>
          <a:ln w="12700">
            <a:solidFill>
              <a:srgbClr val="245B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08483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1 · Estado conceptual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2468880"/>
            <a:ext cx="2788920" cy="2798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202B"/>
                </a:solidFill>
              </a:rPr>
              <a:t>BKT mantiene P(mastery) por competencia a partir de ítems con respuesta verificable.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5202B"/>
                </a:solidFill>
              </a:rPr>
              <a:t>Nunca se actualiza con el resultado estocástico del mercado.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4526280" y="1920240"/>
            <a:ext cx="3154680" cy="3474720"/>
          </a:xfrm>
          <a:prstGeom prst="roundRect">
            <a:avLst>
              <a:gd name="adj" fmla="val 2029"/>
            </a:avLst>
          </a:prstGeom>
          <a:solidFill>
            <a:srgbClr val="FFFFFF"/>
          </a:solidFill>
          <a:ln w="10160">
            <a:solidFill>
              <a:srgbClr val="DDE3E8"/>
            </a:solidFill>
            <a:prstDash val="solid"/>
          </a:ln>
          <a:effectLst>
            <a:outerShdw sx="100000" sy="100000" kx="0" ky="0" algn="bl" rotWithShape="0" blurRad="495575541105000000000" dist="1.32153477628e+21" dir="3.4992e+25">
              <a:srgbClr val="AAB2BA">
                <a:alpha val="1.8e+24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26280" y="1920240"/>
            <a:ext cx="73152" cy="3474720"/>
          </a:xfrm>
          <a:prstGeom prst="rect">
            <a:avLst/>
          </a:prstGeom>
          <a:solidFill>
            <a:srgbClr val="287F7A"/>
          </a:solidFill>
          <a:ln w="12700">
            <a:solidFill>
              <a:srgbClr val="287F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27448" y="208483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2 · Juicio probabilístico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27448" y="2468880"/>
            <a:ext cx="2788920" cy="2798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202B"/>
                </a:solidFill>
              </a:rPr>
              <a:t>El usuario expresa p∈[0,1]. Se evalúan Brier, accuracy y propiedades de calibración con metodología versionada.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8321040" y="1920240"/>
            <a:ext cx="3154680" cy="3474720"/>
          </a:xfrm>
          <a:prstGeom prst="roundRect">
            <a:avLst>
              <a:gd name="adj" fmla="val 2029"/>
            </a:avLst>
          </a:prstGeom>
          <a:solidFill>
            <a:srgbClr val="FFFFFF"/>
          </a:solidFill>
          <a:ln w="10160">
            <a:solidFill>
              <a:srgbClr val="DDE3E8"/>
            </a:solidFill>
            <a:prstDash val="solid"/>
          </a:ln>
          <a:effectLst>
            <a:outerShdw sx="100000" sy="100000" kx="0" ky="0" algn="bl" rotWithShape="0" blurRad="6.2938093720335e+24" dist="1.6783491658756e+25" dir="2.09952e+30">
              <a:srgbClr val="AAB2BA">
                <a:alpha val="1.8e+29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21040" y="1920240"/>
            <a:ext cx="73152" cy="3474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22208" y="208483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3 · Política adaptativa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522208" y="2468880"/>
            <a:ext cx="2788920" cy="2798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202B"/>
                </a:solidFill>
              </a:rPr>
              <a:t>P2 usa ambas señales, spacing, dificultad y cobertura para elegir el siguiente escenario y conserva la explicación completa.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3977640" y="3383280"/>
            <a:ext cx="411480" cy="320040"/>
          </a:xfrm>
          <a:prstGeom prst="chevron">
            <a:avLst/>
          </a:prstGeom>
          <a:solidFill>
            <a:srgbClr val="66717E"/>
          </a:solidFill>
          <a:ln w="12700">
            <a:solidFill>
              <a:srgbClr val="66717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0" y="3383280"/>
            <a:ext cx="411480" cy="320040"/>
          </a:xfrm>
          <a:prstGeom prst="chevron">
            <a:avLst/>
          </a:prstGeom>
          <a:solidFill>
            <a:srgbClr val="66717E"/>
          </a:solidFill>
          <a:ln w="12700">
            <a:solidFill>
              <a:srgbClr val="66717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65099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324D"/>
                </a:solidFill>
              </a:rPr>
              <a:t>Novedad defendible = diseño + separación formal + trazabilidad + evaluación, no una métrica aislada.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6717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8404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D97706"/>
                </a:solidFill>
              </a:rPr>
              <a:t>MODELO FORMAL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713232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324D"/>
                </a:solidFill>
              </a:rPr>
              <a:t>El aprendiz tiene dos estados que responden preguntas diferentes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736592" y="1874520"/>
            <a:ext cx="2651760" cy="1005840"/>
          </a:xfrm>
          <a:prstGeom prst="ellipse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  <a:effectLst>
            <a:outerShdw sx="100000" sy="100000" kx="0" ky="0" algn="bl" rotWithShape="0" blurRad="7.993137902482545e+28" dist="2.1315034406620118e+29" dir="1.259712e+35">
              <a:srgbClr val="AAB2BA">
                <a:alpha val="1.7999999999999998e+34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965192" y="22219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APRENDIZ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394960" y="2880360"/>
            <a:ext cx="-1920240" cy="685800"/>
          </a:xfrm>
          <a:prstGeom prst="line">
            <a:avLst/>
          </a:prstGeom>
          <a:noFill/>
          <a:ln w="25400">
            <a:solidFill>
              <a:srgbClr val="245B78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720840" y="2880360"/>
            <a:ext cx="1920240" cy="685800"/>
          </a:xfrm>
          <a:prstGeom prst="line">
            <a:avLst/>
          </a:prstGeom>
          <a:noFill/>
          <a:ln w="25400">
            <a:solidFill>
              <a:srgbClr val="287F7A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77240" y="3566160"/>
            <a:ext cx="3886200" cy="1965960"/>
          </a:xfrm>
          <a:prstGeom prst="roundRect">
            <a:avLst>
              <a:gd name="adj" fmla="val 3256"/>
            </a:avLst>
          </a:prstGeom>
          <a:solidFill>
            <a:srgbClr val="F8FBFD"/>
          </a:solidFill>
          <a:ln w="10160">
            <a:solidFill>
              <a:srgbClr val="DDE3E8"/>
            </a:solidFill>
            <a:prstDash val="solid"/>
          </a:ln>
          <a:effectLst>
            <a:outerShdw sx="100000" sy="100000" kx="0" ky="0" algn="bl" rotWithShape="0" blurRad="1.0151285136152831e+33" dist="2.707009369640755e+33" dir="7.558272e+39">
              <a:srgbClr val="AAB2BA">
                <a:alpha val="1.8e+39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3566160"/>
            <a:ext cx="73152" cy="1965960"/>
          </a:xfrm>
          <a:prstGeom prst="rect">
            <a:avLst/>
          </a:prstGeom>
          <a:solidFill>
            <a:srgbClr val="245B78"/>
          </a:solidFill>
          <a:ln w="12700">
            <a:solidFill>
              <a:srgbClr val="245B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373075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K · ¿Qué conceptos domina?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78408" y="4114800"/>
            <a:ext cx="3520440" cy="1289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202B"/>
                </a:solidFill>
              </a:rPr>
              <a:t>BKT por competencia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5202B"/>
                </a:solidFill>
              </a:rPr>
              <a:t>P(L0), P(T), P(G), P(S)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5202B"/>
                </a:solidFill>
              </a:rPr>
              <a:t>Input: observaciones conceptuales verificables.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7543800" y="3566160"/>
            <a:ext cx="3886200" cy="1965960"/>
          </a:xfrm>
          <a:prstGeom prst="roundRect">
            <a:avLst>
              <a:gd name="adj" fmla="val 3256"/>
            </a:avLst>
          </a:prstGeom>
          <a:solidFill>
            <a:srgbClr val="F6FBFA"/>
          </a:solidFill>
          <a:ln w="10160">
            <a:solidFill>
              <a:srgbClr val="DDE3E8"/>
            </a:solidFill>
            <a:prstDash val="solid"/>
          </a:ln>
          <a:effectLst>
            <a:outerShdw sx="100000" sy="100000" kx="0" ky="0" algn="bl" rotWithShape="0" blurRad="1.2892132122914095e+37" dist="3.437901899443759e+37" dir="4.5349632000000006e+44">
              <a:srgbClr val="AAB2BA">
                <a:alpha val="1.8e+44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543800" y="3566160"/>
            <a:ext cx="73152" cy="1965960"/>
          </a:xfrm>
          <a:prstGeom prst="rect">
            <a:avLst/>
          </a:prstGeom>
          <a:solidFill>
            <a:srgbClr val="287F7A"/>
          </a:solidFill>
          <a:ln w="12700">
            <a:solidFill>
              <a:srgbClr val="287F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44968" y="373075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J · ¿Cómo juzga incertidumbre?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44968" y="4114800"/>
            <a:ext cx="3520440" cy="1289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202B"/>
                </a:solidFill>
              </a:rPr>
              <a:t>Probabilidad declarada + outcome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5202B"/>
                </a:solidFill>
              </a:rPr>
              <a:t>Brier · Accuracy · Reliability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5202B"/>
                </a:solidFill>
              </a:rPr>
              <a:t>Input: pronósticos probabilísticos y su resolución.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4526280" y="4572000"/>
            <a:ext cx="3154680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5623560" y="4315968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</a:rPr>
              <a:t>P2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377440" y="58064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No se define una única “nota mágica”. La política consume estados separados y registra cada razón.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6717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8404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D97706"/>
                </a:solidFill>
              </a:rPr>
              <a:t>MÉTRICAS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713232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324D"/>
                </a:solidFill>
              </a:rPr>
              <a:t>Brier no es mastery. Brier tampoco es “calibración” a secas.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77240" y="1828800"/>
            <a:ext cx="23317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.6373007796100902e+41" dist="4.366135412293574e+41" dir="2.72097792e+49">
              <a:srgbClr val="AAB2BA">
                <a:alpha val="1.8e+49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75104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45B78"/>
                </a:solidFill>
              </a:rPr>
              <a:t>P(K)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4D"/>
                </a:solidFill>
              </a:rPr>
              <a:t>Mastery conceptual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86968" y="2624328"/>
            <a:ext cx="2112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6717E"/>
                </a:solidFill>
              </a:rPr>
              <a:t>BKT por competencia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46120" y="1828800"/>
            <a:ext cx="23317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2.0793719901048145e+45" dist="5.544991973612839e+45" dir="1.6325867520000003e+54">
              <a:srgbClr val="AAB2BA">
                <a:alpha val="1.8e+54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1975104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87F7A"/>
                </a:solidFill>
              </a:rPr>
              <a:t>0 → 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383280" y="237744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4D"/>
                </a:solidFill>
              </a:rPr>
              <a:t>Brier binario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355848" y="2624328"/>
            <a:ext cx="2112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6717E"/>
                </a:solidFill>
              </a:rPr>
              <a:t>menor es mejor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715000" y="1828800"/>
            <a:ext cx="23317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2.640802427433114e+49" dist="7.042139806488305e+49" dir="9.795520512000002e+58">
              <a:srgbClr val="AAB2BA">
                <a:alpha val="1.8000000000000001e+59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52160" y="1975104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7706"/>
                </a:solidFill>
              </a:rPr>
              <a:t>0 → 100 %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852160" y="237744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4D"/>
                </a:solidFill>
              </a:rPr>
              <a:t>Accuracy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824728" y="2624328"/>
            <a:ext cx="2112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6717E"/>
                </a:solidFill>
              </a:rPr>
              <a:t>umbral predefinido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8183880" y="1828800"/>
            <a:ext cx="27432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3.353819082840055e+53" dist="8.943517554240149e+53" dir="5.877312307200001e+63">
              <a:srgbClr val="AAB2BA">
                <a:alpha val="1.8e+64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321040" y="197510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F7D5C"/>
                </a:solidFill>
              </a:rPr>
              <a:t>p vs frecuencia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321040" y="237744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4D"/>
                </a:solidFill>
              </a:rPr>
              <a:t>Reliability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293608" y="2624328"/>
            <a:ext cx="2523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6717E"/>
                </a:solidFill>
              </a:rPr>
              <a:t>requiere N suficiente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960120" y="3429000"/>
            <a:ext cx="102412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4.2593502352068695e+57" dist="1.1358267293884988e+58" dir="3.526387384320001e+68">
              <a:srgbClr val="AAB2BA">
                <a:alpha val="1.8e+69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234440" y="373075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24D"/>
                </a:solidFill>
              </a:rPr>
              <a:t>BS = (1/N) Σ (pᵢ − yᵢ)²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5166360" y="36576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5202B"/>
                </a:solidFill>
              </a:rPr>
              <a:t>Convención del proyecto: evento binario, p∈[0,1], y∈{0,1}.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5202B"/>
                </a:solidFill>
              </a:rPr>
              <a:t>0 = perfecto · 1 = peor caso.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909560" y="36576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17E"/>
                </a:solidFill>
              </a:rPr>
              <a:t>Murphy: Brier puede analizarse en confiabilidad − resolución + incertidumbre.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920240" y="537667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9473A"/>
                </a:solidFill>
              </a:rPr>
              <a:t>La metodología de bins/error de calibración se congela antes del experimento.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6208776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i="1" dirty="0">
                <a:solidFill>
                  <a:srgbClr val="7B858E"/>
                </a:solidFill>
              </a:rPr>
              <a:t>Brier (1950); Murphy (1973).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6717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8404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D97706"/>
                </a:solidFill>
              </a:rPr>
              <a:t>ESCENARIO REUSABLE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713232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324D"/>
                </a:solidFill>
              </a:rPr>
              <a:t>El core entiende evidencia, competencias, probabilidades y outcomes — no “trading”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20574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4"/>
            </a:solidFill>
            <a:prstDash val="solid"/>
          </a:ln>
          <a:effectLst>
            <a:outerShdw sx="100000" sy="100000" kx="0" ky="0" algn="bl" rotWithShape="0" blurRad="5.409374798712724e+61" dist="1.4424999463233936e+62" dir="2.1158324305920003e+73">
              <a:srgbClr val="AAB2BA">
                <a:alpha val="1.8000000000000002e+74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9264" y="20116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Domain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69264" y="23957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finance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1828800"/>
            <a:ext cx="20574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4"/>
            </a:solidFill>
            <a:prstDash val="solid"/>
          </a:ln>
          <a:effectLst>
            <a:outerShdw sx="100000" sy="100000" kx="0" ky="0" algn="bl" rotWithShape="0" blurRad="6.86990599436516e+65" dist="1.83197493183071e+66" dir="1.2694994583552002e+78">
              <a:srgbClr val="AAB2BA">
                <a:alpha val="1.8000000000000003e+79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46704" y="20116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Competencies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346704" y="23957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probabilidad · riesgo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577840" y="1828800"/>
            <a:ext cx="20574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4"/>
            </a:solidFill>
            <a:prstDash val="solid"/>
          </a:ln>
          <a:effectLst>
            <a:outerShdw sx="100000" sy="100000" kx="0" ky="0" algn="bl" rotWithShape="0" blurRad="8.724780612843754e+69" dist="2.3266081634250016e+70" dir="7.616996750131201e+82">
              <a:srgbClr val="AAB2BA">
                <a:alpha val="1.8000000000000004e+84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24144" y="20116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Evidence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724144" y="23957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snapshot visible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55280" y="1828800"/>
            <a:ext cx="20574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4"/>
            </a:solidFill>
            <a:prstDash val="solid"/>
          </a:ln>
          <a:effectLst>
            <a:outerShdw sx="100000" sy="100000" kx="0" ky="0" algn="bl" rotWithShape="0" blurRad="1.1080471378311567e+74" dist="2.954792367549752e+74" dir="4.57019805007872e+87">
              <a:srgbClr val="AAB2BA">
                <a:alpha val="1.8000000000000005e+89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101584" y="20116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Conceptual item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101584" y="23957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respuesta verificable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3657600"/>
            <a:ext cx="2057400" cy="1143000"/>
          </a:xfrm>
          <a:prstGeom prst="roundRect">
            <a:avLst/>
          </a:prstGeom>
          <a:solidFill>
            <a:srgbClr val="F9FBFC"/>
          </a:solidFill>
          <a:ln w="12700">
            <a:solidFill>
              <a:srgbClr val="D7DEE4"/>
            </a:solidFill>
            <a:prstDash val="solid"/>
          </a:ln>
          <a:effectLst>
            <a:outerShdw sx="100000" sy="100000" kx="0" ky="0" algn="bl" rotWithShape="0" blurRad="1.407219865045569e+78" dist="3.752586306788185e+78" dir="2.742118830047232e+92">
              <a:srgbClr val="AAB2BA">
                <a:alpha val="1.8000000000000007e+94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9264" y="38404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Probabilistic event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9264" y="42245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P(evento)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0" y="3657600"/>
            <a:ext cx="2057400" cy="1143000"/>
          </a:xfrm>
          <a:prstGeom prst="roundRect">
            <a:avLst/>
          </a:prstGeom>
          <a:solidFill>
            <a:srgbClr val="F9FBFC"/>
          </a:solidFill>
          <a:ln w="12700">
            <a:solidFill>
              <a:srgbClr val="D7DEE4"/>
            </a:solidFill>
            <a:prstDash val="solid"/>
          </a:ln>
          <a:effectLst>
            <a:outerShdw sx="100000" sy="100000" kx="0" ky="0" algn="bl" rotWithShape="0" blurRad="1.7871692286078725e+82" dist="4.765784609620995e+82" dir="1.6452712980283393e+97">
              <a:srgbClr val="AAB2BA">
                <a:alpha val="1.8000000000000008e+99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346704" y="38404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Resolution rule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46704" y="42245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outcome objetivo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77840" y="3657600"/>
            <a:ext cx="2057400" cy="1143000"/>
          </a:xfrm>
          <a:prstGeom prst="roundRect">
            <a:avLst/>
          </a:prstGeom>
          <a:solidFill>
            <a:srgbClr val="F9FBFC"/>
          </a:solidFill>
          <a:ln w="12700">
            <a:solidFill>
              <a:srgbClr val="D7DEE4"/>
            </a:solidFill>
            <a:prstDash val="solid"/>
          </a:ln>
          <a:effectLst>
            <a:outerShdw sx="100000" sy="100000" kx="0" ky="0" algn="bl" rotWithShape="0" blurRad="2.269704920331998e+86" dist="6.052546454218663e+86" dir="9.871627788170037e+101">
              <a:srgbClr val="AAB2BA">
                <a:alpha val="1.800000000000001e+104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724144" y="38404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Cutoff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724144" y="42245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t₀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955280" y="3657600"/>
            <a:ext cx="2057400" cy="1143000"/>
          </a:xfrm>
          <a:prstGeom prst="roundRect">
            <a:avLst/>
          </a:prstGeom>
          <a:solidFill>
            <a:srgbClr val="F9FBFC"/>
          </a:solidFill>
          <a:ln w="12700">
            <a:solidFill>
              <a:srgbClr val="D7DEE4"/>
            </a:solidFill>
            <a:prstDash val="solid"/>
          </a:ln>
          <a:effectLst>
            <a:outerShdw sx="100000" sy="100000" kx="0" ky="0" algn="bl" rotWithShape="0" blurRad="2.8825252488216374e+90" dist="7.6867339968577025e+90" dir="5.9229766729020215e+106">
              <a:srgbClr val="AAB2BA">
                <a:alpha val="1.800000000000001e+109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101584" y="38404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Version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101584" y="42245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inmutable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040112" y="2816352"/>
            <a:ext cx="1325880" cy="548640"/>
          </a:xfrm>
          <a:prstGeom prst="rect">
            <a:avLst/>
          </a:prstGeom>
          <a:solidFill>
            <a:srgbClr val="287F7A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DomainAdapter contract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0040112" y="3090672"/>
            <a:ext cx="-1143000" cy="0"/>
          </a:xfrm>
          <a:prstGeom prst="line">
            <a:avLst/>
          </a:prstGeom>
          <a:noFill/>
          <a:ln w="25400">
            <a:solidFill>
              <a:srgbClr val="287F7A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1463040" y="5440680"/>
            <a:ext cx="9052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</a:rPr>
              <a:t>Un segundo adaptador puede demostrar portabilidad arquitectónica sin cambiar el core.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6717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8404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D97706"/>
                </a:solidFill>
              </a:rPr>
              <a:t>DOMINIO DE VALIDACIÓN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713232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324D"/>
                </a:solidFill>
              </a:rPr>
              <a:t>Finanzas sigue: ahora como laboratorio reproducible de incertidumbre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828800" y="28803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7706"/>
                </a:solidFill>
              </a:rPr>
              <a:t>t₀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960120" y="3246120"/>
            <a:ext cx="9966960" cy="0"/>
          </a:xfrm>
          <a:prstGeom prst="line">
            <a:avLst/>
          </a:prstGeom>
          <a:noFill/>
          <a:ln w="38100">
            <a:solidFill>
              <a:srgbClr val="66717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25880" y="3090672"/>
            <a:ext cx="310896" cy="310896"/>
          </a:xfrm>
          <a:prstGeom prst="ellipse">
            <a:avLst/>
          </a:prstGeom>
          <a:solidFill>
            <a:srgbClr val="245B78"/>
          </a:solidFill>
          <a:ln w="12700">
            <a:solidFill>
              <a:srgbClr val="245B7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0" y="3090672"/>
            <a:ext cx="310896" cy="310896"/>
          </a:xfrm>
          <a:prstGeom prst="ellipse">
            <a:avLst/>
          </a:prstGeom>
          <a:solidFill>
            <a:srgbClr val="245B78"/>
          </a:solidFill>
          <a:ln w="12700">
            <a:solidFill>
              <a:srgbClr val="245B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06240" y="3090672"/>
            <a:ext cx="310896" cy="310896"/>
          </a:xfrm>
          <a:prstGeom prst="ellipse">
            <a:avLst/>
          </a:prstGeom>
          <a:solidFill>
            <a:srgbClr val="245B78"/>
          </a:solidFill>
          <a:ln w="12700">
            <a:solidFill>
              <a:srgbClr val="245B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15000" y="3090672"/>
            <a:ext cx="310896" cy="3108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23760" y="3090672"/>
            <a:ext cx="310896" cy="310896"/>
          </a:xfrm>
          <a:prstGeom prst="ellipse">
            <a:avLst/>
          </a:prstGeom>
          <a:solidFill>
            <a:srgbClr val="D1D6DA"/>
          </a:solidFill>
          <a:ln w="12700">
            <a:solidFill>
              <a:srgbClr val="D1D6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32520" y="3090672"/>
            <a:ext cx="310896" cy="310896"/>
          </a:xfrm>
          <a:prstGeom prst="ellipse">
            <a:avLst/>
          </a:prstGeom>
          <a:solidFill>
            <a:srgbClr val="D1D6DA"/>
          </a:solidFill>
          <a:ln w="12700">
            <a:solidFill>
              <a:srgbClr val="D1D6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241280" y="3090672"/>
            <a:ext cx="310896" cy="310896"/>
          </a:xfrm>
          <a:prstGeom prst="ellipse">
            <a:avLst/>
          </a:prstGeom>
          <a:solidFill>
            <a:srgbClr val="D1D6DA"/>
          </a:solidFill>
          <a:ln w="12700">
            <a:solidFill>
              <a:srgbClr val="D1D6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70448" y="1828800"/>
            <a:ext cx="0" cy="301752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1691640"/>
            <a:ext cx="406908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0160">
            <a:solidFill>
              <a:srgbClr val="DDE3E8"/>
            </a:solidFill>
            <a:prstDash val="solid"/>
          </a:ln>
          <a:effectLst>
            <a:outerShdw sx="100000" sy="100000" kx="0" ky="0" algn="bl" rotWithShape="0" blurRad="3.6608070660034796e+94" dist="9.762152176009283e+94" dir="3.553786003741213e+111">
              <a:srgbClr val="AAB2BA">
                <a:alpha val="1.800000000000001e+114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1691640"/>
            <a:ext cx="73152" cy="914400"/>
          </a:xfrm>
          <a:prstGeom prst="rect">
            <a:avLst/>
          </a:prstGeom>
          <a:solidFill>
            <a:srgbClr val="245B78"/>
          </a:solidFill>
          <a:ln w="12700">
            <a:solidFill>
              <a:srgbClr val="245B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185623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Visible al aprendiz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24128" y="2240280"/>
            <a:ext cx="370332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202B"/>
                </a:solidFill>
              </a:rPr>
              <a:t>Datos e indicadores calculados sólo con información ≤ t₀.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6446520" y="1691640"/>
            <a:ext cx="434340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0160">
            <a:solidFill>
              <a:srgbClr val="DDE3E8"/>
            </a:solidFill>
            <a:prstDash val="solid"/>
          </a:ln>
          <a:effectLst>
            <a:outerShdw sx="100000" sy="100000" kx="0" ky="0" algn="bl" rotWithShape="0" blurRad="4.649224973824419e+98" dist="1.2397933263531789e+99" dir="2.1322716022447277e+116">
              <a:srgbClr val="AAB2BA">
                <a:alpha val="1.800000000000001e+119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46520" y="1691640"/>
            <a:ext cx="73152" cy="914400"/>
          </a:xfrm>
          <a:prstGeom prst="rect">
            <a:avLst/>
          </a:prstGeom>
          <a:solidFill>
            <a:srgbClr val="A9473A"/>
          </a:solidFill>
          <a:ln w="12700">
            <a:solidFill>
              <a:srgbClr val="A947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47688" y="185623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Oculto hasta resolver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47688" y="2240280"/>
            <a:ext cx="397764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202B"/>
                </a:solidFill>
              </a:rPr>
              <a:t>Información posterior a t₀, outcome y variables derivadas del futuro.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960120" y="388620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Ejemplo de evento: “¿Qué probabilidad asignás a que el retorno a 5 días sea &gt; 0?”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34440" y="4681728"/>
            <a:ext cx="9646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17E"/>
                </a:solidFill>
              </a:rPr>
              <a:t>El usuario no recibe una señal de compra. Produce un juicio probabilístico que luego puede resolverse objetivamente.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874520" y="5605272"/>
            <a:ext cx="8412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473A"/>
                </a:solidFill>
              </a:rPr>
              <a:t>No prometer “sin survivorship bias” hasta tener un universo histórico que lo documente.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6717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8404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D97706"/>
                </a:solidFill>
              </a:rPr>
              <a:t>GARANTÍA DE INGENIERÍA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713232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324D"/>
                </a:solidFill>
              </a:rPr>
              <a:t>Temporal Leakage Guard: el futuro no puede entrar por accidente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13716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45B78"/>
            </a:solidFill>
            <a:prstDash val="solid"/>
          </a:ln>
          <a:effectLst>
            <a:outerShdw sx="100000" sy="100000" kx="0" ky="0" algn="bl" rotWithShape="0" blurRad="5.904515716757012e+102" dist="1.574537524468537e+103" dir="1.2793629613468366e+121">
              <a:srgbClr val="AAB2BA">
                <a:alpha val="1.800000000000001e+124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2359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5B78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2331720"/>
            <a:ext cx="841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7324D"/>
                </a:solidFill>
              </a:rPr>
              <a:t>Dataset snapshot</a:t>
            </a:r>
            <a:endParaRPr lang="en-US" sz="870" dirty="0"/>
          </a:p>
        </p:txBody>
      </p:sp>
      <p:sp>
        <p:nvSpPr>
          <p:cNvPr id="7" name="Shape 5"/>
          <p:cNvSpPr/>
          <p:nvPr/>
        </p:nvSpPr>
        <p:spPr>
          <a:xfrm>
            <a:off x="1993392" y="2523744"/>
            <a:ext cx="228600" cy="320040"/>
          </a:xfrm>
          <a:prstGeom prst="chevron">
            <a:avLst/>
          </a:prstGeom>
          <a:solidFill>
            <a:srgbClr val="66717E"/>
          </a:solidFill>
          <a:ln w="12700">
            <a:solidFill>
              <a:srgbClr val="66717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67712" y="2240280"/>
            <a:ext cx="13716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45B78"/>
            </a:solidFill>
            <a:prstDash val="solid"/>
          </a:ln>
          <a:effectLst>
            <a:outerShdw sx="100000" sy="100000" kx="0" ky="0" algn="bl" rotWithShape="0" blurRad="7.498734960281406e+106" dist="1.9996626560750422e+107" dir="7.67617776808102e+125">
              <a:srgbClr val="AAB2BA">
                <a:alpha val="1.800000000000001e+129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377440" y="2359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5B78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651760" y="2331720"/>
            <a:ext cx="841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7324D"/>
                </a:solidFill>
              </a:rPr>
              <a:t>Transform / indicator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3621024" y="2523744"/>
            <a:ext cx="228600" cy="320040"/>
          </a:xfrm>
          <a:prstGeom prst="chevron">
            <a:avLst/>
          </a:prstGeom>
          <a:solidFill>
            <a:srgbClr val="66717E"/>
          </a:solidFill>
          <a:ln w="12700">
            <a:solidFill>
              <a:srgbClr val="66717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95344" y="2240280"/>
            <a:ext cx="13716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45B78"/>
            </a:solidFill>
            <a:prstDash val="solid"/>
          </a:ln>
          <a:effectLst>
            <a:outerShdw sx="100000" sy="100000" kx="0" ky="0" algn="bl" rotWithShape="0" blurRad="9.523393399557385e+110" dist="2.5395715732153033e+111" dir="4.605706660848612e+130">
              <a:srgbClr val="AAB2BA">
                <a:alpha val="1.800000000000001e+134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005072" y="2359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5B78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79392" y="2331720"/>
            <a:ext cx="841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7324D"/>
                </a:solidFill>
              </a:rPr>
              <a:t>Scenario build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5248656" y="2523744"/>
            <a:ext cx="228600" cy="320040"/>
          </a:xfrm>
          <a:prstGeom prst="chevron">
            <a:avLst/>
          </a:prstGeom>
          <a:solidFill>
            <a:srgbClr val="66717E"/>
          </a:solidFill>
          <a:ln w="12700">
            <a:solidFill>
              <a:srgbClr val="66717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22976" y="2240280"/>
            <a:ext cx="13716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45B78"/>
            </a:solidFill>
            <a:prstDash val="solid"/>
          </a:ln>
          <a:effectLst>
            <a:outerShdw sx="100000" sy="100000" kx="0" ky="0" algn="bl" rotWithShape="0" blurRad="1.209470961743788e+115" dist="3.2252558979834354e+115" dir="2.763423996509167e+135">
              <a:srgbClr val="AAB2BA">
                <a:alpha val="1.800000000000001e+139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32704" y="2359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5B78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07024" y="2331720"/>
            <a:ext cx="841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7324D"/>
                </a:solidFill>
              </a:rPr>
              <a:t>API payload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6876288" y="2523744"/>
            <a:ext cx="228600" cy="320040"/>
          </a:xfrm>
          <a:prstGeom prst="chevron">
            <a:avLst/>
          </a:prstGeom>
          <a:solidFill>
            <a:srgbClr val="66717E"/>
          </a:solidFill>
          <a:ln w="12700">
            <a:solidFill>
              <a:srgbClr val="66717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50608" y="2240280"/>
            <a:ext cx="13716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45B78"/>
            </a:solidFill>
            <a:prstDash val="solid"/>
          </a:ln>
          <a:effectLst>
            <a:outerShdw sx="100000" sy="100000" kx="0" ky="0" algn="bl" rotWithShape="0" blurRad="1.5360281214146108e+119" dist="4.0960749904389626e+119" dir="1.6580543979055002e+140">
              <a:srgbClr val="AAB2BA">
                <a:alpha val="1.800000000000001e+144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260336" y="2359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5B78"/>
                </a:solidFill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534656" y="2331720"/>
            <a:ext cx="841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7324D"/>
                </a:solidFill>
              </a:rPr>
              <a:t>Browser</a:t>
            </a:r>
            <a:endParaRPr lang="en-US" sz="870" dirty="0"/>
          </a:p>
        </p:txBody>
      </p:sp>
      <p:sp>
        <p:nvSpPr>
          <p:cNvPr id="23" name="Shape 21"/>
          <p:cNvSpPr/>
          <p:nvPr/>
        </p:nvSpPr>
        <p:spPr>
          <a:xfrm>
            <a:off x="8503920" y="2523744"/>
            <a:ext cx="228600" cy="320040"/>
          </a:xfrm>
          <a:prstGeom prst="chevron">
            <a:avLst/>
          </a:prstGeom>
          <a:solidFill>
            <a:srgbClr val="66717E"/>
          </a:solidFill>
          <a:ln w="12700">
            <a:solidFill>
              <a:srgbClr val="66717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778240" y="2240280"/>
            <a:ext cx="13716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.9507557141965558e+123" dist="5.2020152378574823e+123" dir="9.948326387433002e+144">
              <a:srgbClr val="AAB2BA">
                <a:alpha val="1.8000000000000009e+149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887968" y="2359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</a:rPr>
              <a:t>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62288" y="2331720"/>
            <a:ext cx="841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7324D"/>
                </a:solidFill>
              </a:rPr>
              <a:t>Lock attempt</a:t>
            </a:r>
            <a:endParaRPr lang="en-US" sz="870" dirty="0"/>
          </a:p>
        </p:txBody>
      </p:sp>
      <p:sp>
        <p:nvSpPr>
          <p:cNvPr id="27" name="Shape 25"/>
          <p:cNvSpPr/>
          <p:nvPr/>
        </p:nvSpPr>
        <p:spPr>
          <a:xfrm>
            <a:off x="10131552" y="2523744"/>
            <a:ext cx="228600" cy="320040"/>
          </a:xfrm>
          <a:prstGeom prst="chevron">
            <a:avLst/>
          </a:prstGeom>
          <a:solidFill>
            <a:srgbClr val="66717E"/>
          </a:solidFill>
          <a:ln w="12700">
            <a:solidFill>
              <a:srgbClr val="66717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405872" y="2240280"/>
            <a:ext cx="13716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87F7A"/>
            </a:solidFill>
            <a:prstDash val="solid"/>
          </a:ln>
          <a:effectLst>
            <a:outerShdw sx="100000" sy="100000" kx="0" ky="0" algn="bl" rotWithShape="0" blurRad="2.4774597570296257e+127" dist="6.606559352079002e+127" dir="5.968995832459801e+149">
              <a:srgbClr val="AAB2BA">
                <a:alpha val="1.800000000000001e+154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0515600" y="2359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7F7A"/>
                </a:solidFill>
              </a:rPr>
              <a:t>7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789920" y="2331720"/>
            <a:ext cx="841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7324D"/>
                </a:solidFill>
              </a:rPr>
              <a:t>Resolve outcome</a:t>
            </a:r>
            <a:endParaRPr lang="en-US" sz="870" dirty="0"/>
          </a:p>
        </p:txBody>
      </p:sp>
      <p:sp>
        <p:nvSpPr>
          <p:cNvPr id="31" name="Shape 29"/>
          <p:cNvSpPr/>
          <p:nvPr/>
        </p:nvSpPr>
        <p:spPr>
          <a:xfrm>
            <a:off x="960120" y="3886200"/>
            <a:ext cx="10149840" cy="1463040"/>
          </a:xfrm>
          <a:prstGeom prst="roundRect">
            <a:avLst/>
          </a:prstGeom>
          <a:solidFill>
            <a:srgbClr val="FFF8EF"/>
          </a:solidFill>
          <a:ln w="12700">
            <a:solidFill>
              <a:srgbClr val="E9BE8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80160" y="422452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7706"/>
                </a:solidFill>
              </a:rPr>
              <a:t>Merge gate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2606040" y="40690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5202B"/>
                </a:solidFill>
              </a:rPr>
              <a:t>CI bloquea si una serie visible supera cutoff_time, si un indicador usa look-ahead, si el outcome aparece antes del lock o si metadata rompe el cegado experimental.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2103120" y="566928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No-leakage deja de ser una “buena práctica” y pasa a ser una propiedad testeable.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6717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8404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D97706"/>
                </a:solidFill>
              </a:rPr>
              <a:t>POLÍTICAS COMPARABLES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713232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324D"/>
                </a:solidFill>
              </a:rPr>
              <a:t>La tesis evalúa P2 contra baselines explícitos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77240" y="1874520"/>
            <a:ext cx="3154680" cy="3520440"/>
          </a:xfrm>
          <a:prstGeom prst="roundRect">
            <a:avLst>
              <a:gd name="adj" fmla="val 2029"/>
            </a:avLst>
          </a:prstGeom>
          <a:solidFill>
            <a:srgbClr val="FFFFFF"/>
          </a:solidFill>
          <a:ln w="10160">
            <a:solidFill>
              <a:srgbClr val="DDE3E8"/>
            </a:solidFill>
            <a:prstDash val="solid"/>
          </a:ln>
          <a:effectLst>
            <a:outerShdw sx="100000" sy="100000" kx="0" ky="0" algn="bl" rotWithShape="0" blurRad="3.1463738914276248e+131" dist="8.390330377140333e+131" dir="3.581397499475881e+154">
              <a:srgbClr val="AAB2BA">
                <a:alpha val="1.800000000000001e+159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74520"/>
            <a:ext cx="73152" cy="3520440"/>
          </a:xfrm>
          <a:prstGeom prst="rect">
            <a:avLst/>
          </a:prstGeom>
          <a:solidFill>
            <a:srgbClr val="66717E"/>
          </a:solidFill>
          <a:ln w="12700">
            <a:solidFill>
              <a:srgbClr val="66717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8408" y="203911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P0 · Secuencia fija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78408" y="2423160"/>
            <a:ext cx="2788920" cy="28437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202B"/>
                </a:solidFill>
              </a:rPr>
              <a:t>Mismos tipos de ejercicios y mediciones, pero el estado del usuario no modifica la selección.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5202B"/>
                </a:solidFill>
              </a:rPr>
              <a:t>→ baseline principal.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4526280" y="1874520"/>
            <a:ext cx="3154680" cy="3520440"/>
          </a:xfrm>
          <a:prstGeom prst="roundRect">
            <a:avLst>
              <a:gd name="adj" fmla="val 2029"/>
            </a:avLst>
          </a:prstGeom>
          <a:solidFill>
            <a:srgbClr val="FFFFFF"/>
          </a:solidFill>
          <a:ln w="10160">
            <a:solidFill>
              <a:srgbClr val="DDE3E8"/>
            </a:solidFill>
            <a:prstDash val="solid"/>
          </a:ln>
          <a:effectLst>
            <a:outerShdw sx="100000" sy="100000" kx="0" ky="0" algn="bl" rotWithShape="0" blurRad="3.9958948421130834e+135" dist="1.0655719578968222e+136" dir="2.1488384996855287e+159">
              <a:srgbClr val="AAB2BA">
                <a:alpha val="1.800000000000001e+164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26280" y="1874520"/>
            <a:ext cx="73152" cy="3520440"/>
          </a:xfrm>
          <a:prstGeom prst="rect">
            <a:avLst/>
          </a:prstGeom>
          <a:solidFill>
            <a:srgbClr val="245B78"/>
          </a:solidFill>
          <a:ln w="12700">
            <a:solidFill>
              <a:srgbClr val="245B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27448" y="203911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P1 · Sólo conocimiento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27448" y="2423160"/>
            <a:ext cx="2788920" cy="28437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202B"/>
                </a:solidFill>
              </a:rPr>
              <a:t>Prioriza competencias con menor P(mastery).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5202B"/>
                </a:solidFill>
              </a:rPr>
              <a:t>Ignora Brier/calibración al elegir el próximo escenario.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5202B"/>
                </a:solidFill>
              </a:rPr>
              <a:t>→ aísla el aporte de BKT.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8275320" y="1874520"/>
            <a:ext cx="3154680" cy="3520440"/>
          </a:xfrm>
          <a:prstGeom prst="roundRect">
            <a:avLst>
              <a:gd name="adj" fmla="val 2029"/>
            </a:avLst>
          </a:prstGeom>
          <a:solidFill>
            <a:srgbClr val="FFFFFF"/>
          </a:solidFill>
          <a:ln w="10160">
            <a:solidFill>
              <a:srgbClr val="DDE3E8"/>
            </a:solidFill>
            <a:prstDash val="solid"/>
          </a:ln>
          <a:effectLst>
            <a:outerShdw sx="100000" sy="100000" kx="0" ky="0" algn="bl" rotWithShape="0" blurRad="5.074786449483616e+139" dist="1.3532763865289643e+140" dir="1.2893030998113172e+164">
              <a:srgbClr val="AAB2BA">
                <a:alpha val="1.800000000000001e+169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75320" y="1874520"/>
            <a:ext cx="73152" cy="3520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76488" y="203911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P2 · Dual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76488" y="2423160"/>
            <a:ext cx="2788920" cy="28437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202B"/>
                </a:solidFill>
              </a:rPr>
              <a:t>Combina necesidad conceptual + juicio probabilístico + dificultad + spacing + cobertura.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5202B"/>
                </a:solidFill>
              </a:rPr>
              <a:t>→ propuesta Indicator Insight.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1097280" y="571500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9473A"/>
                </a:solidFill>
              </a:rPr>
              <a:t>Si la muestra real no permite 3 grupos, el diseño puede reducirse a P0 vs P2 antes de recolectar datos.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6717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8404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D97706"/>
                </a:solidFill>
              </a:rPr>
              <a:t>EXPERIMENTO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713232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324D"/>
                </a:solidFill>
              </a:rPr>
              <a:t>Adaptación durante el training. Medición con benchmark fijo.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2240280"/>
            <a:ext cx="1481328" cy="9601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45B78"/>
            </a:solidFill>
            <a:prstDash val="solid"/>
          </a:ln>
          <a:effectLst>
            <a:outerShdw sx="100000" sy="100000" kx="0" ky="0" algn="bl" rotWithShape="0" blurRad="6.444978790844192e+143" dist="1.7186610108917847e+144" dir="7.735818598867904e+168">
              <a:srgbClr val="AAB2BA">
                <a:alpha val="1.800000000000001e+174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242316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5B78"/>
                </a:solidFill>
              </a:rPr>
              <a:t>CONSENT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4360" y="2761488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66717E"/>
                </a:solidFill>
              </a:rPr>
              <a:t>ética</a:t>
            </a:r>
            <a:endParaRPr lang="en-US" sz="770" dirty="0"/>
          </a:p>
        </p:txBody>
      </p:sp>
      <p:sp>
        <p:nvSpPr>
          <p:cNvPr id="7" name="Shape 5"/>
          <p:cNvSpPr/>
          <p:nvPr/>
        </p:nvSpPr>
        <p:spPr>
          <a:xfrm>
            <a:off x="2039112" y="2560320"/>
            <a:ext cx="219456" cy="320040"/>
          </a:xfrm>
          <a:prstGeom prst="chevron">
            <a:avLst/>
          </a:prstGeom>
          <a:solidFill>
            <a:srgbClr val="66717E"/>
          </a:solidFill>
          <a:ln w="12700">
            <a:solidFill>
              <a:srgbClr val="66717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77440" y="2240280"/>
            <a:ext cx="1481328" cy="9601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45B78"/>
            </a:solidFill>
            <a:prstDash val="solid"/>
          </a:ln>
          <a:effectLst>
            <a:outerShdw sx="100000" sy="100000" kx="0" ky="0" algn="bl" rotWithShape="0" blurRad="8.185123064372124e+147" dist="2.1826994838325667e+148" dir="4.6414911593207425e+173">
              <a:srgbClr val="AAB2BA">
                <a:alpha val="1.800000000000001e+179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242316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5B78"/>
                </a:solidFill>
              </a:rPr>
              <a:t>PRETEST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468880" y="2761488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66717E"/>
                </a:solidFill>
              </a:rPr>
              <a:t>fijo</a:t>
            </a:r>
            <a:endParaRPr lang="en-US" sz="770" dirty="0"/>
          </a:p>
        </p:txBody>
      </p:sp>
      <p:sp>
        <p:nvSpPr>
          <p:cNvPr id="11" name="Shape 9"/>
          <p:cNvSpPr/>
          <p:nvPr/>
        </p:nvSpPr>
        <p:spPr>
          <a:xfrm>
            <a:off x="3913632" y="2560320"/>
            <a:ext cx="219456" cy="320040"/>
          </a:xfrm>
          <a:prstGeom prst="chevron">
            <a:avLst/>
          </a:prstGeom>
          <a:solidFill>
            <a:srgbClr val="66717E"/>
          </a:solidFill>
          <a:ln w="12700">
            <a:solidFill>
              <a:srgbClr val="66717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51960" y="2240280"/>
            <a:ext cx="1481328" cy="9601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45B78"/>
            </a:solidFill>
            <a:prstDash val="solid"/>
          </a:ln>
          <a:effectLst>
            <a:outerShdw sx="100000" sy="100000" kx="0" ky="0" algn="bl" rotWithShape="0" blurRad="1.0395106291752597e+152" dist="2.77202834446736e+152" dir="2.7848946955924455e+178">
              <a:srgbClr val="AAB2BA">
                <a:alpha val="1.8000000000000012e+184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343400" y="242316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5B78"/>
                </a:solidFill>
              </a:rPr>
              <a:t>ASSIGN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343400" y="2761488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66717E"/>
                </a:solidFill>
              </a:rPr>
              <a:t>P0/P1/P2</a:t>
            </a:r>
            <a:endParaRPr lang="en-US" sz="770" dirty="0"/>
          </a:p>
        </p:txBody>
      </p:sp>
      <p:sp>
        <p:nvSpPr>
          <p:cNvPr id="15" name="Shape 13"/>
          <p:cNvSpPr/>
          <p:nvPr/>
        </p:nvSpPr>
        <p:spPr>
          <a:xfrm>
            <a:off x="5788152" y="2560320"/>
            <a:ext cx="219456" cy="320040"/>
          </a:xfrm>
          <a:prstGeom prst="chevron">
            <a:avLst/>
          </a:prstGeom>
          <a:solidFill>
            <a:srgbClr val="66717E"/>
          </a:solidFill>
          <a:ln w="12700">
            <a:solidFill>
              <a:srgbClr val="66717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2240280"/>
            <a:ext cx="1481328" cy="960120"/>
          </a:xfrm>
          <a:prstGeom prst="roundRect">
            <a:avLst/>
          </a:prstGeom>
          <a:solidFill>
            <a:srgbClr val="FFF5E8"/>
          </a:solidFill>
          <a:ln w="17780">
            <a:solidFill>
              <a:srgbClr val="D97706"/>
            </a:solidFill>
            <a:prstDash val="solid"/>
          </a:ln>
          <a:effectLst>
            <a:outerShdw sx="100000" sy="100000" kx="0" ky="0" algn="bl" rotWithShape="0" blurRad="1.32017849905258e+156" dist="3.520475997473547e+156" dir="1.6709368173554673e+183">
              <a:srgbClr val="AAB2BA">
                <a:alpha val="1.8000000000000013e+189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17920" y="242316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TRAINING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17920" y="2761488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66717E"/>
                </a:solidFill>
              </a:rPr>
              <a:t>adaptativo según grupo</a:t>
            </a:r>
            <a:endParaRPr lang="en-US" sz="770" dirty="0"/>
          </a:p>
        </p:txBody>
      </p:sp>
      <p:sp>
        <p:nvSpPr>
          <p:cNvPr id="19" name="Shape 17"/>
          <p:cNvSpPr/>
          <p:nvPr/>
        </p:nvSpPr>
        <p:spPr>
          <a:xfrm>
            <a:off x="7662672" y="2560320"/>
            <a:ext cx="219456" cy="320040"/>
          </a:xfrm>
          <a:prstGeom prst="chevron">
            <a:avLst/>
          </a:prstGeom>
          <a:solidFill>
            <a:srgbClr val="66717E"/>
          </a:solidFill>
          <a:ln w="12700">
            <a:solidFill>
              <a:srgbClr val="66717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01000" y="2240280"/>
            <a:ext cx="1481328" cy="9601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45B78"/>
            </a:solidFill>
            <a:prstDash val="solid"/>
          </a:ln>
          <a:effectLst>
            <a:outerShdw sx="100000" sy="100000" kx="0" ky="0" algn="bl" rotWithShape="0" blurRad="1.6766266937967764e+160" dist="4.471004516791404e+160" dir="1.0025620904132804e+188">
              <a:srgbClr val="AAB2BA">
                <a:alpha val="1.8000000000000013e+194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092440" y="242316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5B78"/>
                </a:solidFill>
              </a:rPr>
              <a:t>POSTTEST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92440" y="2761488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66717E"/>
                </a:solidFill>
              </a:rPr>
              <a:t>fijo</a:t>
            </a:r>
            <a:endParaRPr lang="en-US" sz="770" dirty="0"/>
          </a:p>
        </p:txBody>
      </p:sp>
      <p:sp>
        <p:nvSpPr>
          <p:cNvPr id="23" name="Shape 21"/>
          <p:cNvSpPr/>
          <p:nvPr/>
        </p:nvSpPr>
        <p:spPr>
          <a:xfrm>
            <a:off x="9537192" y="2560320"/>
            <a:ext cx="219456" cy="320040"/>
          </a:xfrm>
          <a:prstGeom prst="chevron">
            <a:avLst/>
          </a:prstGeom>
          <a:solidFill>
            <a:srgbClr val="66717E"/>
          </a:solidFill>
          <a:ln w="12700">
            <a:solidFill>
              <a:srgbClr val="66717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875520" y="2240280"/>
            <a:ext cx="1481328" cy="9601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87F7A"/>
            </a:solidFill>
            <a:prstDash val="solid"/>
          </a:ln>
          <a:effectLst>
            <a:outerShdw sx="100000" sy="100000" kx="0" ky="0" algn="bl" rotWithShape="0" blurRad="2.1293159011219062e+164" dist="5.678175736325083e+164" dir="6.015372542479682e+192">
              <a:srgbClr val="AAB2BA">
                <a:alpha val="1.8000000000000013e+199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966960" y="242316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87F7A"/>
                </a:solidFill>
              </a:rPr>
              <a:t>ANALYSIS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966960" y="2761488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66717E"/>
                </a:solidFill>
              </a:rPr>
              <a:t>reproducible</a:t>
            </a:r>
            <a:endParaRPr lang="en-US" sz="770" dirty="0"/>
          </a:p>
        </p:txBody>
      </p:sp>
      <p:sp>
        <p:nvSpPr>
          <p:cNvPr id="27" name="Shape 25"/>
          <p:cNvSpPr/>
          <p:nvPr/>
        </p:nvSpPr>
        <p:spPr>
          <a:xfrm>
            <a:off x="914400" y="3977640"/>
            <a:ext cx="48920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2.704231194424821e+168" dist="7.211283185132856e+168" dir="3.6092235254878095e+197">
              <a:srgbClr val="AAB2BA">
                <a:alpha val="1.8000000000000012e+204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143000" y="42062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Co-primarios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468880" y="4096512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5202B"/>
                </a:solidFill>
              </a:rPr>
              <a:t>Δ desempeño conceptual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5202B"/>
                </a:solidFill>
              </a:rPr>
              <a:t>Δ Brier en benchmark fijo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355080" y="3977640"/>
            <a:ext cx="48920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3.434373616919523e+172" dist="9.158329645118728e+172" dir="2.1655341152926858e+202">
              <a:srgbClr val="AAB2BA">
                <a:alpha val="1.800000000000001e+209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583680" y="4206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Secundarios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955280" y="4096512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5202B"/>
                </a:solidFill>
              </a:rPr>
              <a:t>accuracy · reliability · tiempo · retención (si es viable) · usabilidad</a:t>
            </a:r>
            <a:endParaRPr lang="en-US" sz="1080" dirty="0"/>
          </a:p>
        </p:txBody>
      </p:sp>
      <p:sp>
        <p:nvSpPr>
          <p:cNvPr id="33" name="Text 31"/>
          <p:cNvSpPr/>
          <p:nvPr/>
        </p:nvSpPr>
        <p:spPr>
          <a:xfrm>
            <a:off x="2057400" y="5687568"/>
            <a:ext cx="8092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97706"/>
                </a:solidFill>
              </a:rPr>
              <a:t>Un resultado nulo sigue siendo un resultado válido: la hipótesis es falsable.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6717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8404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D97706"/>
                </a:solidFill>
              </a:rPr>
              <a:t>ARQUITECTURA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713232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324D"/>
                </a:solidFill>
              </a:rPr>
              <a:t>Monolito modular: complejidad donde aporta a la tesis, no en infraestructura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" y="2057400"/>
            <a:ext cx="1920240" cy="2651760"/>
          </a:xfrm>
          <a:prstGeom prst="round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  <a:effectLst>
            <a:outerShdw sx="100000" sy="100000" kx="0" ky="0" algn="bl" rotWithShape="0" blurRad="4.3616544934877943e+176" dist="1.1631078649300784e+177" dir="1.2993204691756116e+207">
              <a:srgbClr val="AAB2BA">
                <a:alpha val="1.8000000000000013e+214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74320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React +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TypeScript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697480" y="3172968"/>
            <a:ext cx="411480" cy="320040"/>
          </a:xfrm>
          <a:prstGeom prst="chevron">
            <a:avLst/>
          </a:prstGeom>
          <a:solidFill>
            <a:srgbClr val="66717E"/>
          </a:solidFill>
          <a:ln w="12700">
            <a:solidFill>
              <a:srgbClr val="66717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46120" y="1783080"/>
            <a:ext cx="539496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4DB"/>
            </a:solidFill>
            <a:prstDash val="solid"/>
          </a:ln>
          <a:effectLst>
            <a:outerShdw sx="100000" sy="100000" kx="0" ky="0" algn="bl" rotWithShape="0" blurRad="5.539301206729498e+180" dist="1.4771469884611996e+181" dir="7.795922815053669e+211">
              <a:srgbClr val="AAB2BA">
                <a:alpha val="1.8000000000000013e+219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0" y="20299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FastAPI · Modular Monolith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611880" y="2606040"/>
            <a:ext cx="2057400" cy="356616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5E0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75888" y="2706624"/>
            <a:ext cx="1920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45B78"/>
                </a:solidFill>
              </a:rPr>
              <a:t>Scenario / Replay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007608" y="2606040"/>
            <a:ext cx="2057400" cy="356616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5E0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71616" y="2706624"/>
            <a:ext cx="1920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45B78"/>
                </a:solidFill>
              </a:rPr>
              <a:t>Assessment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11880" y="3127248"/>
            <a:ext cx="2057400" cy="356616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5E0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75888" y="3227832"/>
            <a:ext cx="1920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45B78"/>
                </a:solidFill>
              </a:rPr>
              <a:t>BKT Learner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007608" y="3127248"/>
            <a:ext cx="2057400" cy="356616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5E0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71616" y="3227832"/>
            <a:ext cx="1920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45B78"/>
                </a:solidFill>
              </a:rPr>
              <a:t>Judgment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11880" y="3648456"/>
            <a:ext cx="2057400" cy="356616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5E0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75888" y="3749040"/>
            <a:ext cx="1920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45B78"/>
                </a:solidFill>
              </a:rPr>
              <a:t>Adaptation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007608" y="3648456"/>
            <a:ext cx="2057400" cy="356616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5E0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71616" y="3749040"/>
            <a:ext cx="1920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45B78"/>
                </a:solidFill>
              </a:rPr>
              <a:t>Experiments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11880" y="4169664"/>
            <a:ext cx="2057400" cy="356616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5E0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75888" y="4270248"/>
            <a:ext cx="1920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45B78"/>
                </a:solidFill>
              </a:rPr>
              <a:t>Analytics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007608" y="4169664"/>
            <a:ext cx="2057400" cy="356616"/>
          </a:xfrm>
          <a:prstGeom prst="roundRect">
            <a:avLst/>
          </a:prstGeom>
          <a:solidFill>
            <a:srgbClr val="FFF1DF"/>
          </a:solidFill>
          <a:ln w="12700">
            <a:solidFill>
              <a:srgbClr val="E7A64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71616" y="4270248"/>
            <a:ext cx="1920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</a:rPr>
              <a:t>Finance Adapter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796528" y="3172968"/>
            <a:ext cx="411480" cy="320040"/>
          </a:xfrm>
          <a:prstGeom prst="chevron">
            <a:avLst/>
          </a:prstGeom>
          <a:solidFill>
            <a:srgbClr val="66717E"/>
          </a:solidFill>
          <a:ln w="12700">
            <a:solidFill>
              <a:srgbClr val="66717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372600" y="2057400"/>
            <a:ext cx="2057400" cy="2651760"/>
          </a:xfrm>
          <a:prstGeom prst="roundRect">
            <a:avLst/>
          </a:prstGeom>
          <a:solidFill>
            <a:srgbClr val="287F7A"/>
          </a:solidFill>
          <a:ln w="12700">
            <a:solidFill>
              <a:srgbClr val="287F7A"/>
            </a:solidFill>
            <a:prstDash val="solid"/>
          </a:ln>
          <a:effectLst>
            <a:outerShdw sx="100000" sy="100000" kx="0" ky="0" algn="bl" rotWithShape="0" blurRad="7.034912532546463e+184" dist="1.8759766753457235e+185" dir="4.677553689032201e+216">
              <a:srgbClr val="AAB2BA">
                <a:alpha val="1.8000000000000013e+224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674352" y="27432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PostgreSQL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+ Alembic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1874520" y="544068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pytest · Playwright · Docker Compose · Cloudflare Tunnel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194560" y="58338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17E"/>
                </a:solidFill>
              </a:rPr>
              <a:t>Sin microservicios · sin Kafka · infraestructura proporcional al alcance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6717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8404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D97706"/>
                </a:solidFill>
              </a:rPr>
              <a:t>PROCESO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713232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324D"/>
                </a:solidFill>
              </a:rPr>
              <a:t>Kanban + GitFlow, con revisión humana obligatoria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508760" cy="658368"/>
          </a:xfrm>
          <a:prstGeom prst="roundRect">
            <a:avLst/>
          </a:prstGeom>
          <a:solidFill>
            <a:srgbClr val="66717E"/>
          </a:solidFill>
          <a:ln w="12700">
            <a:solidFill>
              <a:srgbClr val="66717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08483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Backlog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121408" y="2039112"/>
            <a:ext cx="228600" cy="320040"/>
          </a:xfrm>
          <a:prstGeom prst="chevron">
            <a:avLst/>
          </a:prstGeom>
          <a:solidFill>
            <a:srgbClr val="66717E"/>
          </a:solidFill>
          <a:ln w="12700">
            <a:solidFill>
              <a:srgbClr val="66717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50592" y="1874520"/>
            <a:ext cx="1508760" cy="658368"/>
          </a:xfrm>
          <a:prstGeom prst="roundRect">
            <a:avLst/>
          </a:prstGeom>
          <a:solidFill>
            <a:srgbClr val="245B78"/>
          </a:solidFill>
          <a:ln w="12700">
            <a:solidFill>
              <a:srgbClr val="245B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42032" y="208483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Ready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023360" y="2039112"/>
            <a:ext cx="228600" cy="320040"/>
          </a:xfrm>
          <a:prstGeom prst="chevron">
            <a:avLst/>
          </a:prstGeom>
          <a:solidFill>
            <a:srgbClr val="66717E"/>
          </a:solidFill>
          <a:ln w="12700">
            <a:solidFill>
              <a:srgbClr val="66717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52544" y="1874520"/>
            <a:ext cx="1508760" cy="658368"/>
          </a:xfrm>
          <a:prstGeom prst="round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43984" y="208483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In Progress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925312" y="2039112"/>
            <a:ext cx="228600" cy="320040"/>
          </a:xfrm>
          <a:prstGeom prst="chevron">
            <a:avLst/>
          </a:prstGeom>
          <a:solidFill>
            <a:srgbClr val="66717E"/>
          </a:solidFill>
          <a:ln w="12700">
            <a:solidFill>
              <a:srgbClr val="66717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54496" y="1874520"/>
            <a:ext cx="1508760" cy="658368"/>
          </a:xfrm>
          <a:prstGeom prst="roundRect">
            <a:avLst/>
          </a:prstGeom>
          <a:solidFill>
            <a:srgbClr val="287F7A"/>
          </a:solidFill>
          <a:ln w="12700">
            <a:solidFill>
              <a:srgbClr val="287F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45936" y="208483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Review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827264" y="2039112"/>
            <a:ext cx="228600" cy="320040"/>
          </a:xfrm>
          <a:prstGeom prst="chevron">
            <a:avLst/>
          </a:prstGeom>
          <a:solidFill>
            <a:srgbClr val="66717E"/>
          </a:solidFill>
          <a:ln w="12700">
            <a:solidFill>
              <a:srgbClr val="66717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56448" y="1874520"/>
            <a:ext cx="1508760" cy="658368"/>
          </a:xfrm>
          <a:prstGeom prst="round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47888" y="208483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Validation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729216" y="2039112"/>
            <a:ext cx="228600" cy="320040"/>
          </a:xfrm>
          <a:prstGeom prst="chevron">
            <a:avLst/>
          </a:prstGeom>
          <a:solidFill>
            <a:srgbClr val="66717E"/>
          </a:solidFill>
          <a:ln w="12700">
            <a:solidFill>
              <a:srgbClr val="66717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58400" y="1874520"/>
            <a:ext cx="1508760" cy="658368"/>
          </a:xfrm>
          <a:prstGeom prst="roundRect">
            <a:avLst/>
          </a:prstGeom>
          <a:solidFill>
            <a:srgbClr val="3F7D5C"/>
          </a:solidFill>
          <a:ln w="12700">
            <a:solidFill>
              <a:srgbClr val="3F7D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149840" y="208483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Done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77240" y="3063240"/>
            <a:ext cx="3063240" cy="20574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0160">
            <a:solidFill>
              <a:srgbClr val="DDE3E8"/>
            </a:solidFill>
            <a:prstDash val="solid"/>
          </a:ln>
          <a:effectLst>
            <a:outerShdw sx="100000" sy="100000" kx="0" ky="0" algn="bl" rotWithShape="0" blurRad="8.934338916334009e+188" dist="2.382490377689069e+189" dir="2.806532213419321e+221">
              <a:srgbClr val="AAB2BA">
                <a:alpha val="1.8000000000000013e+229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77240" y="3063240"/>
            <a:ext cx="73152" cy="2057400"/>
          </a:xfrm>
          <a:prstGeom prst="rect">
            <a:avLst/>
          </a:prstGeom>
          <a:solidFill>
            <a:srgbClr val="245B78"/>
          </a:solidFill>
          <a:ln w="12700">
            <a:solidFill>
              <a:srgbClr val="245B7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8408" y="322783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Linear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78408" y="3611880"/>
            <a:ext cx="2697480" cy="1380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202B"/>
                </a:solidFill>
              </a:rPr>
              <a:t>Issues II-###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5202B"/>
                </a:solidFill>
              </a:rPr>
              <a:t>prioridad · bloqueos · milestones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5202B"/>
                </a:solidFill>
              </a:rPr>
              <a:t>fuente de verdad operativa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4572000" y="3063240"/>
            <a:ext cx="3063240" cy="20574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0160">
            <a:solidFill>
              <a:srgbClr val="DDE3E8"/>
            </a:solidFill>
            <a:prstDash val="solid"/>
          </a:ln>
          <a:effectLst>
            <a:outerShdw sx="100000" sy="100000" kx="0" ky="0" algn="bl" rotWithShape="0" blurRad="1.1346610423744191e+193" dist="3.0257627796651175e+193" dir="1.6839193280515925e+226">
              <a:srgbClr val="AAB2BA">
                <a:alpha val="1.8000000000000014e+234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0" y="3063240"/>
            <a:ext cx="73152" cy="2057400"/>
          </a:xfrm>
          <a:prstGeom prst="rect">
            <a:avLst/>
          </a:prstGeom>
          <a:solidFill>
            <a:srgbClr val="287F7A"/>
          </a:solidFill>
          <a:ln w="12700">
            <a:solidFill>
              <a:srgbClr val="287F7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322783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GitHub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773168" y="3611880"/>
            <a:ext cx="2697480" cy="1380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202B"/>
                </a:solidFill>
              </a:rPr>
              <a:t>feature/II-###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5202B"/>
                </a:solidFill>
              </a:rPr>
              <a:t>tests · Actions · PR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5202B"/>
                </a:solidFill>
              </a:rPr>
              <a:t>fuente de verdad del código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8366760" y="3063240"/>
            <a:ext cx="3063240" cy="20574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0160">
            <a:solidFill>
              <a:srgbClr val="DDE3E8"/>
            </a:solidFill>
            <a:prstDash val="solid"/>
          </a:ln>
          <a:effectLst>
            <a:outerShdw sx="100000" sy="100000" kx="0" ky="0" algn="bl" rotWithShape="0" blurRad="1.4410195238155123e+197" dist="3.8427187301746993e+197" dir="1.0103515968309554e+231">
              <a:srgbClr val="AAB2BA">
                <a:alpha val="1.8000000000000013e+239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66760" y="3063240"/>
            <a:ext cx="73152" cy="2057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67928" y="322783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Criterios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567928" y="3611880"/>
            <a:ext cx="2697480" cy="1380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202B"/>
                </a:solidFill>
              </a:rPr>
              <a:t>alcance + criterios de aceptación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5202B"/>
                </a:solidFill>
              </a:rPr>
              <a:t>tests + documentación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5202B"/>
                </a:solidFill>
              </a:rPr>
              <a:t>revisión humana antes del merge</a:t>
            </a:r>
            <a:endParaRPr lang="en-US" sz="1020" dirty="0"/>
          </a:p>
        </p:txBody>
      </p:sp>
      <p:sp>
        <p:nvSpPr>
          <p:cNvPr id="33" name="Text 31"/>
          <p:cNvSpPr/>
          <p:nvPr/>
        </p:nvSpPr>
        <p:spPr>
          <a:xfrm>
            <a:off x="1600200" y="5559552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</a:rPr>
              <a:t>No más “8 sprints / 16 semanas”: milestones científicos y WIP real.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6717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8404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D97706"/>
                </a:solidFill>
              </a:rPr>
              <a:t>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713232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324D"/>
                </a:solidFill>
              </a:rPr>
              <a:t>Hitos de madurez, no fechas inventadas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1874520" cy="1325880"/>
          </a:xfrm>
          <a:prstGeom prst="roundRect">
            <a:avLst/>
          </a:prstGeom>
          <a:solidFill>
            <a:srgbClr val="FFF3E5"/>
          </a:solidFill>
          <a:ln w="20320">
            <a:solidFill>
              <a:srgbClr val="D97706"/>
            </a:solidFill>
            <a:prstDash val="solid"/>
          </a:ln>
          <a:effectLst>
            <a:outerShdw sx="100000" sy="100000" kx="0" ky="0" algn="bl" rotWithShape="0" blurRad="1.8300947952457007e+201" dist="4.880252787321868e+201" dir="6.062109580985733e+235">
              <a:srgbClr val="AAB2BA">
                <a:alpha val="1.8000000000000012e+244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95528" y="1975104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</a:rPr>
              <a:t>M0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16152" y="20116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Baseline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50392" y="2532888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717E"/>
                </a:solidFill>
              </a:rPr>
              <a:t>docs + ADR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971800" y="1828800"/>
            <a:ext cx="1874520" cy="13258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7DEE4"/>
            </a:solidFill>
            <a:prstDash val="solid"/>
          </a:ln>
          <a:effectLst>
            <a:outerShdw sx="100000" sy="100000" kx="0" ky="0" algn="bl" rotWithShape="0" blurRad="2.3242203899620397e+205" dist="6.197921039898773e+205" dir="3.63726574859144e+240">
              <a:srgbClr val="AAB2BA">
                <a:alpha val="1.800000000000001e+249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081528" y="1975104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5B78"/>
                </a:solidFill>
              </a:rPr>
              <a:t>M1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502152" y="20116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Vertical slice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36392" y="2532888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717E"/>
                </a:solidFill>
              </a:rPr>
              <a:t>end-to-end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257800" y="1828800"/>
            <a:ext cx="1874520" cy="13258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7DEE4"/>
            </a:solidFill>
            <a:prstDash val="solid"/>
          </a:ln>
          <a:effectLst>
            <a:outerShdw sx="100000" sy="100000" kx="0" ky="0" algn="bl" rotWithShape="0" blurRad="2.9517598952517903e+209" dist="7.871359720671441e+209" dir="2.182359449154864e+245">
              <a:srgbClr val="AAB2BA">
                <a:alpha val="1.800000000000001e+254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67528" y="1975104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5B78"/>
                </a:solidFill>
              </a:rPr>
              <a:t>M2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788152" y="20116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Time safety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22392" y="2532888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717E"/>
                </a:solidFill>
              </a:rPr>
              <a:t>replay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543800" y="1828800"/>
            <a:ext cx="1874520" cy="13258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7DEE4"/>
            </a:solidFill>
            <a:prstDash val="solid"/>
          </a:ln>
          <a:effectLst>
            <a:outerShdw sx="100000" sy="100000" kx="0" ky="0" algn="bl" rotWithShape="0" blurRad="3.7487350669697734e+213" dist="9.996626845252731e+213" dir="1.3094156694929184e+250">
              <a:srgbClr val="AAB2BA">
                <a:alpha val="1.8000000000000008e+259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653528" y="1975104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5B78"/>
                </a:solidFill>
              </a:rPr>
              <a:t>M3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074152" y="20116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Models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08392" y="2532888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717E"/>
                </a:solidFill>
              </a:rPr>
              <a:t>BKT + metrics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829800" y="1828800"/>
            <a:ext cx="1874520" cy="13258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7DEE4"/>
            </a:solidFill>
            <a:prstDash val="solid"/>
          </a:ln>
          <a:effectLst>
            <a:outerShdw sx="100000" sy="100000" kx="0" ky="0" algn="bl" rotWithShape="0" blurRad="4.760893535051613e+217" dist="1.2695716093470969e+218" dir="7.85649401695751e+254">
              <a:srgbClr val="AAB2BA">
                <a:alpha val="1.8000000000000007e+264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939528" y="1975104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5B78"/>
                </a:solidFill>
              </a:rPr>
              <a:t>M4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360152" y="20116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Policies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994392" y="2532888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717E"/>
                </a:solidFill>
              </a:rPr>
              <a:t>P0/P1/P2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85800" y="3794760"/>
            <a:ext cx="1874520" cy="13258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7DEE4"/>
            </a:solidFill>
            <a:prstDash val="solid"/>
          </a:ln>
          <a:effectLst>
            <a:outerShdw sx="100000" sy="100000" kx="0" ky="0" algn="bl" rotWithShape="0" blurRad="6.046334789515548e+221" dist="1.612355943870813e+222" dir="4.713896410174506e+259">
              <a:srgbClr val="AAB2BA">
                <a:alpha val="1.8000000000000006e+269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95528" y="3941064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5B78"/>
                </a:solidFill>
              </a:rPr>
              <a:t>M5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216152" y="39776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Finance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50392" y="4498848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717E"/>
                </a:solidFill>
              </a:rPr>
              <a:t>pool + benchmark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971800" y="3794760"/>
            <a:ext cx="1874520" cy="13258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7DEE4"/>
            </a:solidFill>
            <a:prstDash val="solid"/>
          </a:ln>
          <a:effectLst>
            <a:outerShdw sx="100000" sy="100000" kx="0" ky="0" algn="bl" rotWithShape="0" blurRad="7.678845182684747e+225" dist="2.0476920487159326e+226" dir="2.8283378461047036e+264">
              <a:srgbClr val="AAB2BA">
                <a:alpha val="1.8000000000000007e+274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081528" y="3941064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5B78"/>
                </a:solidFill>
              </a:rPr>
              <a:t>M6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3502152" y="39776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Experiment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136392" y="4498848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717E"/>
                </a:solidFill>
              </a:rPr>
              <a:t>freeze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257800" y="3794760"/>
            <a:ext cx="1874520" cy="13258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7DEE4"/>
            </a:solidFill>
            <a:prstDash val="solid"/>
          </a:ln>
          <a:effectLst>
            <a:outerShdw sx="100000" sy="100000" kx="0" ky="0" algn="bl" rotWithShape="0" blurRad="9.75213338200963e+229" dist="2.6005689018692344e+230" dir="1.6970027076628222e+269">
              <a:srgbClr val="AAB2BA">
                <a:alpha val="1.8000000000000008e+279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367528" y="3941064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5B78"/>
                </a:solidFill>
              </a:rPr>
              <a:t>M7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788152" y="39776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Study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22392" y="4498848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717E"/>
                </a:solidFill>
              </a:rPr>
              <a:t>participants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543800" y="3794760"/>
            <a:ext cx="1874520" cy="13258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7DEE4"/>
            </a:solidFill>
            <a:prstDash val="solid"/>
          </a:ln>
          <a:effectLst>
            <a:outerShdw sx="100000" sy="100000" kx="0" ky="0" algn="bl" rotWithShape="0" blurRad="1.2385209395152229e+234" dist="3.3027225053739275e+234" dir="1.0182016245976934e+274">
              <a:srgbClr val="AAB2BA">
                <a:alpha val="1.8000000000000007e+284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653528" y="3941064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5B78"/>
                </a:solidFill>
              </a:rPr>
              <a:t>M8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074152" y="39776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Thesis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708392" y="4498848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717E"/>
                </a:solidFill>
              </a:rPr>
              <a:t>analysis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9829800" y="3794760"/>
            <a:ext cx="1874520" cy="13258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7DEE4"/>
            </a:solidFill>
            <a:prstDash val="solid"/>
          </a:ln>
          <a:effectLst>
            <a:outerShdw sx="100000" sy="100000" kx="0" ky="0" algn="bl" rotWithShape="0" blurRad="1.572921593184333e+238" dist="4.194457581824888e+238" dir="6.10920974758616e+278">
              <a:srgbClr val="AAB2BA">
                <a:alpha val="1.8000000000000007e+289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9939528" y="3941064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5B78"/>
                </a:solidFill>
              </a:rPr>
              <a:t>M9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10360152" y="39776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Demo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9994392" y="4498848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717E"/>
                </a:solidFill>
              </a:rPr>
              <a:t>deploy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14400" y="5833872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9473A"/>
                </a:solidFill>
              </a:rPr>
              <a:t>El orden puede ajustarse por riesgo y disponibilidad; la baseline científica no cambia silenciosamente.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6717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8404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D97706"/>
                </a:solidFill>
              </a:rPr>
              <a:t>ALCANCE Y HONESTIDAD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713232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324D"/>
                </a:solidFill>
              </a:rPr>
              <a:t>Qué demostramos — y qué no prometemos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77240" y="1874520"/>
            <a:ext cx="4983480" cy="3611880"/>
          </a:xfrm>
          <a:prstGeom prst="roundRect">
            <a:avLst>
              <a:gd name="adj" fmla="val 1772"/>
            </a:avLst>
          </a:prstGeom>
          <a:solidFill>
            <a:srgbClr val="F7FBF8"/>
          </a:solidFill>
          <a:ln w="10160">
            <a:solidFill>
              <a:srgbClr val="DDE3E8"/>
            </a:solidFill>
            <a:prstDash val="solid"/>
          </a:ln>
          <a:effectLst>
            <a:outerShdw sx="100000" sy="100000" kx="0" ky="0" algn="bl" rotWithShape="0" blurRad="1.997610423344103e+242" dist="5.326961128917608e+242" dir="3.6655258485516963e+283">
              <a:srgbClr val="AAB2BA">
                <a:alpha val="1.8000000000000007e+294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74520"/>
            <a:ext cx="73152" cy="3611880"/>
          </a:xfrm>
          <a:prstGeom prst="rect">
            <a:avLst/>
          </a:prstGeom>
          <a:solidFill>
            <a:srgbClr val="3F7D5C"/>
          </a:solidFill>
          <a:ln w="12700">
            <a:solidFill>
              <a:srgbClr val="3F7D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8408" y="2039112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Sí se pretende demostrar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78408" y="2423160"/>
            <a:ext cx="4617720" cy="29352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202B"/>
                </a:solidFill>
              </a:rPr>
              <a:t>✓ Core reusable mediante adapters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5202B"/>
                </a:solidFill>
              </a:rPr>
              <a:t>✓ Replay con no-leakage testeado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5202B"/>
                </a:solidFill>
              </a:rPr>
              <a:t>✓ Separación BKT / juicio probabilístico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5202B"/>
                </a:solidFill>
              </a:rPr>
              <a:t>✓ Política P2 explicable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5202B"/>
                </a:solidFill>
              </a:rPr>
              <a:t>✓ Comparación contra baseline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5202B"/>
                </a:solidFill>
              </a:rPr>
              <a:t>✓ Reproducibilidad de escenarios y análisis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6446520" y="1874520"/>
            <a:ext cx="4983480" cy="3611880"/>
          </a:xfrm>
          <a:prstGeom prst="roundRect">
            <a:avLst>
              <a:gd name="adj" fmla="val 1772"/>
            </a:avLst>
          </a:prstGeom>
          <a:solidFill>
            <a:srgbClr val="FCF8F7"/>
          </a:solidFill>
          <a:ln w="10160">
            <a:solidFill>
              <a:srgbClr val="DDE3E8"/>
            </a:solidFill>
            <a:prstDash val="solid"/>
          </a:ln>
          <a:effectLst>
            <a:outerShdw sx="100000" sy="100000" kx="0" ky="0" algn="bl" rotWithShape="0" blurRad="2.5369652376470108e+246" dist="6.765240633725363e+246" dir="2.1993155091310177e+288">
              <a:srgbClr val="AAB2BA">
                <a:alpha val="1.8000000000000008e+299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46520" y="1874520"/>
            <a:ext cx="73152" cy="3611880"/>
          </a:xfrm>
          <a:prstGeom prst="rect">
            <a:avLst/>
          </a:prstGeom>
          <a:solidFill>
            <a:srgbClr val="A9473A"/>
          </a:solidFill>
          <a:ln w="12700">
            <a:solidFill>
              <a:srgbClr val="A947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47688" y="2039112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No se pretende afirmar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647688" y="2423160"/>
            <a:ext cx="4617720" cy="29352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202B"/>
                </a:solidFill>
              </a:rPr>
              <a:t>✕ “BKT + Brier” es una invención nueva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5202B"/>
                </a:solidFill>
              </a:rPr>
              <a:t>✕ ganancias = aprendizaje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5202B"/>
                </a:solidFill>
              </a:rPr>
              <a:t>✕ el sistema predice mercados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5202B"/>
                </a:solidFill>
              </a:rPr>
              <a:t>✕ IA generativa es necesaria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5202B"/>
                </a:solidFill>
              </a:rPr>
              <a:t>✕ portabilidad de software = transferencia cognitiva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5202B"/>
                </a:solidFill>
              </a:rPr>
              <a:t>✕ usuarios sintéticos prueban eficacia humana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1920240" y="57150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</a:rPr>
              <a:t>Una defensa más fuerte empieza por limitar correctamente las afirmaciones.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6717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91440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</a:rPr>
              <a:t>INDICATOR INSIGHT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777240" y="1828800"/>
            <a:ext cx="8778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E6EDF2"/>
                </a:solidFill>
              </a:rPr>
              <a:t>La aplicación no intenta adivinar por el estudiante.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E6EDF2"/>
                </a:solidFill>
              </a:rPr>
              <a:t>Entrena, mide y explica cómo está aprendiendo a decidir bajo incertidumbre.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77240" y="3703320"/>
            <a:ext cx="4754880" cy="0"/>
          </a:xfrm>
          <a:prstGeom prst="line">
            <a:avLst/>
          </a:prstGeom>
          <a:noFill/>
          <a:ln w="508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406908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4D1DA"/>
                </a:solidFill>
              </a:rPr>
              <a:t>Nombre de producto: Indicator Insight (se mantiene por ahora)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4D1DA"/>
                </a:solidFill>
              </a:rPr>
              <a:t>Título académico: domain-neutral · Core: reusable · Finanzas: validación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57150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Ramiro Agustín Pintos De Nucci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0" y="57150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Thesis Baseline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6717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Universidad de Mendoza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Indicator Insight - Pitch Deck</dc:title>
  <dc:subject>Trabajo Final de Grado - Ingeniería en Informática</dc:subject>
  <dc:creator>Ramiro Agustín Pintos De Nucci</dc:creator>
  <cp:lastModifiedBy>Ramiro Agustín Pintos De Nucci</cp:lastModifiedBy>
  <cp:revision>1</cp:revision>
  <dcterms:created xsi:type="dcterms:W3CDTF">2026-09-29T23:43:51Z</dcterms:created>
  <dcterms:modified xsi:type="dcterms:W3CDTF">2026-09-29T23:43:51Z</dcterms:modified>
</cp:coreProperties>
</file>